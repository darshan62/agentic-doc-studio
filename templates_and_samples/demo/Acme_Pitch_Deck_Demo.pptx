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6"/>
  </p:sldMasterIdLst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Master" Target="slideMasters/slideMaster1.xml"/><Relationship Id="rId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Title 3"/>
          <p:cNvSpPr/>
          <p:nvPr/>
        </p:nvSpPr>
        <p:spPr>
          <a:xfrm>
            <a:off x="1000000" y="1800000"/>
            <a:ext cx="10192000" cy="18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3600" b="1" dirty="0">
                <a:solidFill>
                  <a:srgbClr val="1B365D"/>
                </a:solidFill>
              </a:rPr>
              <a:t>Acme Intelligent Document Platform</a:t>
            </a:r>
          </a:p>
        </p:txBody>
      </p:sp>
      <p:sp>
        <p:nvSpPr>
          <p:cNvPr id="4" name="Subtitle 4"/>
          <p:cNvSpPr/>
          <p:nvPr/>
        </p:nvSpPr>
        <p:spPr>
          <a:xfrm>
            <a:off x="1200000" y="3600000"/>
            <a:ext cx="9792000" cy="12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2000" b="0" dirty="0">
                <a:solidFill>
                  <a:srgbClr val="475569"/>
                </a:solidFill>
              </a:rPr>
              <a:t>Board Briefing — Q3 2025</a:t>
            </a:r>
          </a:p>
        </p:txBody>
      </p:sp>
      <p:sp>
        <p:nvSpPr>
          <p:cNvPr id="5" name="Footer 5"/>
          <p:cNvSpPr/>
          <p:nvPr/>
        </p:nvSpPr>
        <p:spPr>
          <a:xfrm>
            <a:off x="1000000" y="5800000"/>
            <a:ext cx="10192000" cy="5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1200" b="0" dirty="0">
                <a:solidFill>
                  <a:srgbClr val="94A3B8"/>
                </a:solidFill>
              </a:rPr>
              <a:t>Confidential | Prepared for Globex Corporation</a:t>
            </a:r>
          </a:p>
        </p:txBody>
      </p:sp>
      <p:pic>
        <p:nvPicPr>
          <p:cNvPr id="6" name="Company Logo" descr="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000" y="500000"/>
            <a:ext cx="164592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Category 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00A3E0"/>
                </a:solidFill>
              </a:rPr>
              <a:t>WHY NOW</a:t>
            </a:r>
          </a:p>
        </p:txBody>
      </p:sp>
      <p:sp>
        <p:nvSpPr>
          <p:cNvPr id="4" name="Title 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1B365D"/>
                </a:solidFill>
              </a:rPr>
              <a:t>Market Opportunity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Content Placeholder 6"/>
          <p:cNvSpPr/>
          <p:nvPr/>
        </p:nvSpPr>
        <p:spPr>
          <a:xfrm>
            <a:off x="800000" y="1800000"/>
            <a:ext cx="10592000" cy="44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 marL="285750" indent="-285750">
              <a:buFont typeface="Arial"/>
              <a:buChar char="•"/>
            </a:pPr>
            <a:r>
              <a:rPr lang="en-US" sz="1800" b="0" dirty="0">
                <a:solidFill>
                  <a:srgbClr val="1E293B"/>
                </a:solidFill>
              </a:rPr>
              <a:t>Knowledge workers spend 30% of their week creating and formatting documents</a:t>
            </a:r>
          </a:p>
          <a:p>
            <a:pPr algn="l" marL="285750" indent="-285750">
              <a:buFont typeface="Arial"/>
              <a:buChar char="•"/>
            </a:pPr>
            <a:r>
              <a:rPr lang="en-US" sz="1800" b="0" dirty="0">
                <a:solidFill>
                  <a:srgbClr val="1E293B"/>
                </a:solidFill>
              </a:rPr>
              <a:t>Enterprises maintain thousands of proposal and slide templates</a:t>
            </a:r>
          </a:p>
          <a:p>
            <a:pPr algn="l" marL="285750" indent="-285750">
              <a:buFont typeface="Arial"/>
              <a:buChar char="•"/>
            </a:pPr>
            <a:r>
              <a:rPr lang="en-US" sz="1800" b="0" dirty="0">
                <a:solidFill>
                  <a:srgbClr val="1E293B"/>
                </a:solidFill>
              </a:rPr>
              <a:t>Manual edits introduce brand and compliance errors</a:t>
            </a:r>
          </a:p>
          <a:p>
            <a:pPr algn="l" marL="285750" indent="-285750">
              <a:buFont typeface="Arial"/>
              <a:buChar char="•"/>
            </a:pPr>
            <a:r>
              <a:rPr lang="en-US" sz="1800" b="0" dirty="0">
                <a:solidFill>
                  <a:srgbClr val="1E293B"/>
                </a:solidFill>
              </a:rPr>
              <a:t>Enterprise adoption of generative AI doubled in two years</a:t>
            </a:r>
          </a:p>
        </p:txBody>
      </p:sp>
      <p:pic>
        <p:nvPicPr>
          <p:cNvPr id="7" name="Company Logo" descr="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040" y="250000"/>
            <a:ext cx="82296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Category 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00A3E0"/>
                </a:solidFill>
              </a:rPr>
              <a:t>PLATFORM</a:t>
            </a:r>
          </a:p>
        </p:txBody>
      </p:sp>
      <p:sp>
        <p:nvSpPr>
          <p:cNvPr id="4" name="Title 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1B365D"/>
                </a:solidFill>
              </a:rPr>
              <a:t>Our Solution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Content Placeholder 6"/>
          <p:cNvSpPr/>
          <p:nvPr/>
        </p:nvSpPr>
        <p:spPr>
          <a:xfrm>
            <a:off x="800000" y="1800000"/>
            <a:ext cx="10592000" cy="44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 marL="285750" indent="-285750">
              <a:buFont typeface="Arial"/>
              <a:buChar char="•"/>
            </a:pPr>
            <a:r>
              <a:rPr lang="en-US" sz="1800" b="0" dirty="0">
                <a:solidFill>
                  <a:srgbClr val="1E293B"/>
                </a:solidFill>
              </a:rPr>
              <a:t>Chat with your document: plain-English edits applied to real DOCX and PPTX files</a:t>
            </a:r>
          </a:p>
          <a:p>
            <a:pPr algn="l" marL="285750" indent="-285750">
              <a:buFont typeface="Arial"/>
              <a:buChar char="•"/>
            </a:pPr>
            <a:r>
              <a:rPr lang="en-US" sz="1800" b="0" dirty="0">
                <a:solidFill>
                  <a:srgbClr val="1E293B"/>
                </a:solidFill>
              </a:rPr>
              <a:t>Every change is validated, versioned and reversible</a:t>
            </a:r>
          </a:p>
          <a:p>
            <a:pPr algn="l" marL="285750" indent="-285750">
              <a:buFont typeface="Arial"/>
              <a:buChar char="•"/>
            </a:pPr>
            <a:r>
              <a:rPr lang="en-US" sz="1800" b="0" dirty="0">
                <a:solidFill>
                  <a:srgbClr val="1E293B"/>
                </a:solidFill>
              </a:rPr>
              <a:t>Grounded in approved company knowledge with citations</a:t>
            </a:r>
          </a:p>
        </p:txBody>
      </p:sp>
      <p:pic>
        <p:nvPicPr>
          <p:cNvPr id="7" name="Company Logo" descr="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040" y="250000"/>
            <a:ext cx="82296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Category 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00A3E0"/>
                </a:solidFill>
              </a:rPr>
              <a:t>KEY BUSINESS IMPACT &amp; METRICS</a:t>
            </a:r>
          </a:p>
        </p:txBody>
      </p:sp>
      <p:sp>
        <p:nvSpPr>
          <p:cNvPr id="4" name="Title 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1B365D"/>
                </a:solidFill>
              </a:rPr>
              <a:t>Business Impact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10B981"/>
                </a:solidFill>
              </a:rPr>
              <a:t>60%</a:t>
            </a:r>
          </a:p>
          <a:p>
            <a:pPr algn="l">
              <a:spcBef>
                <a:spcPts val="600"/>
              </a:spcBef>
            </a:pPr>
            <a:r>
              <a:rPr lang="en-US" sz="1500" b="1" dirty="0">
                <a:solidFill>
                  <a:srgbClr val="1B365D"/>
                </a:solidFill>
              </a:rPr>
              <a:t>Faster drafting</a:t>
            </a:r>
          </a:p>
          <a:p>
            <a:pPr algn="l">
              <a:spcBef>
                <a:spcPts val="600"/>
              </a:spcBef>
            </a:pPr>
            <a:r>
              <a:rPr lang="en-US" sz="1200" b="0" dirty="0">
                <a:solidFill>
                  <a:srgbClr val="64748B"/>
                </a:solidFill>
              </a:rPr>
              <a:t>Proposal turnaround in the pilot</a:t>
            </a:r>
          </a:p>
        </p:txBody>
      </p:sp>
      <p:sp>
        <p:nvSpPr>
          <p:cNvPr id="7" name="Shape_7"/>
          <p:cNvSpPr/>
          <p:nvPr/>
        </p:nvSpPr>
        <p:spPr>
          <a:xfrm>
            <a:off x="6292000" y="180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10B981"/>
                </a:solidFill>
              </a:rPr>
              <a:t>9 mo</a:t>
            </a:r>
          </a:p>
          <a:p>
            <a:pPr algn="l">
              <a:spcBef>
                <a:spcPts val="600"/>
              </a:spcBef>
            </a:pPr>
            <a:r>
              <a:rPr lang="en-US" sz="1500" b="1" dirty="0">
                <a:solidFill>
                  <a:srgbClr val="1B365D"/>
                </a:solidFill>
              </a:rPr>
              <a:t>Payback</a:t>
            </a:r>
          </a:p>
          <a:p>
            <a:pPr algn="l">
              <a:spcBef>
                <a:spcPts val="600"/>
              </a:spcBef>
            </a:pPr>
            <a:r>
              <a:rPr lang="en-US" sz="1200" b="0" dirty="0">
                <a:solidFill>
                  <a:srgbClr val="64748B"/>
                </a:solidFill>
              </a:rPr>
              <a:t>Based on reduced review effort</a:t>
            </a:r>
          </a:p>
        </p:txBody>
      </p:sp>
      <p:sp>
        <p:nvSpPr>
          <p:cNvPr id="8" name="Shape_8"/>
          <p:cNvSpPr/>
          <p:nvPr/>
        </p:nvSpPr>
        <p:spPr>
          <a:xfrm>
            <a:off x="800000" y="415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10B981"/>
                </a:solidFill>
              </a:rPr>
              <a:t>100%</a:t>
            </a:r>
          </a:p>
          <a:p>
            <a:pPr algn="l">
              <a:spcBef>
                <a:spcPts val="600"/>
              </a:spcBef>
            </a:pPr>
            <a:r>
              <a:rPr lang="en-US" sz="1500" b="1" dirty="0">
                <a:solidFill>
                  <a:srgbClr val="1B365D"/>
                </a:solidFill>
              </a:rPr>
              <a:t>Traceable</a:t>
            </a:r>
          </a:p>
          <a:p>
            <a:pPr algn="l">
              <a:spcBef>
                <a:spcPts val="600"/>
              </a:spcBef>
            </a:pPr>
            <a:r>
              <a:rPr lang="en-US" sz="1200" b="0" dirty="0">
                <a:solidFill>
                  <a:srgbClr val="64748B"/>
                </a:solidFill>
              </a:rPr>
              <a:t>Every edit has a version</a:t>
            </a:r>
          </a:p>
        </p:txBody>
      </p:sp>
      <p:sp>
        <p:nvSpPr>
          <p:cNvPr id="9" name="Shape_9"/>
          <p:cNvSpPr/>
          <p:nvPr/>
        </p:nvSpPr>
        <p:spPr>
          <a:xfrm>
            <a:off x="6292000" y="415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10B981"/>
                </a:solidFill>
              </a:rPr>
              <a:t>0</a:t>
            </a:r>
          </a:p>
          <a:p>
            <a:pPr algn="l">
              <a:spcBef>
                <a:spcPts val="600"/>
              </a:spcBef>
            </a:pPr>
            <a:r>
              <a:rPr lang="en-US" sz="1500" b="1" dirty="0">
                <a:solidFill>
                  <a:srgbClr val="1B365D"/>
                </a:solidFill>
              </a:rPr>
              <a:t>Template drift</a:t>
            </a:r>
          </a:p>
          <a:p>
            <a:pPr algn="l">
              <a:spcBef>
                <a:spcPts val="600"/>
              </a:spcBef>
            </a:pPr>
            <a:r>
              <a:rPr lang="en-US" sz="1200" b="0" dirty="0">
                <a:solidFill>
                  <a:srgbClr val="64748B"/>
                </a:solidFill>
              </a:rPr>
              <a:t>Brand styles applied automatically</a:t>
            </a:r>
          </a:p>
        </p:txBody>
      </p:sp>
      <p:pic>
        <p:nvPicPr>
          <p:cNvPr id="10" name="Company Logo" descr="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040" y="250000"/>
            <a:ext cx="82296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Category 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00A3E0"/>
                </a:solidFill>
              </a:rPr>
              <a:t>ROADMAP</a:t>
            </a:r>
          </a:p>
        </p:txBody>
      </p:sp>
      <p:sp>
        <p:nvSpPr>
          <p:cNvPr id="4" name="Title 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1B365D"/>
                </a:solidFill>
              </a:rPr>
              <a:t>Next Steps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Content Placeholder 6"/>
          <p:cNvSpPr/>
          <p:nvPr/>
        </p:nvSpPr>
        <p:spPr>
          <a:xfrm>
            <a:off x="800000" y="1800000"/>
            <a:ext cx="10592000" cy="44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 marL="285750" indent="-285750">
              <a:buFont typeface="Arial"/>
              <a:buChar char="•"/>
            </a:pPr>
            <a:r>
              <a:rPr lang="en-US" sz="1800" b="0" dirty="0">
                <a:solidFill>
                  <a:srgbClr val="1E293B"/>
                </a:solidFill>
              </a:rPr>
              <a:t>Two-week discovery workshop</a:t>
            </a:r>
          </a:p>
          <a:p>
            <a:pPr algn="l" marL="285750" indent="-285750">
              <a:buFont typeface="Arial"/>
              <a:buChar char="•"/>
            </a:pPr>
            <a:r>
              <a:rPr lang="en-US" sz="1800" b="0" dirty="0">
                <a:solidFill>
                  <a:srgbClr val="1E293B"/>
                </a:solidFill>
              </a:rPr>
              <a:t>Pilot with the proposals team</a:t>
            </a:r>
          </a:p>
          <a:p>
            <a:pPr algn="l" marL="285750" indent="-285750">
              <a:buFont typeface="Arial"/>
              <a:buChar char="•"/>
            </a:pPr>
            <a:r>
              <a:rPr lang="en-US" sz="1800" b="0" dirty="0">
                <a:solidFill>
                  <a:srgbClr val="1E293B"/>
                </a:solidFill>
              </a:rPr>
              <a:t>Company-wide rollout in Q1</a:t>
            </a:r>
          </a:p>
        </p:txBody>
      </p:sp>
      <p:pic>
        <p:nvPicPr>
          <p:cNvPr id="7" name="Company Logo" descr="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040" y="250000"/>
            <a:ext cx="822960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ocuSynth">
  <a:themeElements>
    <a:clrScheme name="DocuSynth">
      <a:dk1>
        <a:srgbClr val="000000"/>
      </a:dk1>
      <a:lt1>
        <a:srgbClr val="FFFFFF"/>
      </a:lt1>
      <a:dk2>
        <a:srgbClr val="1B365D"/>
      </a:dk2>
      <a:lt2>
        <a:srgbClr val="E7E6E6"/>
      </a:lt2>
      <a:accent1>
        <a:srgbClr val="00A3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ocuSynt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ocuSynt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Enterprise Multi-Agent DocuSynth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Acme Intelligent Document Platform</dc:title>
  <dc:creator>Enterprise Multi-Agent AI System</dc:creator>
  <cp:lastModifiedBy>PPT Generation Agent</cp:lastModifiedBy>
  <cp:revision>1</cp:revision>
</cp:coreProperties>
</file>